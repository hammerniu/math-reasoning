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OprOkaMd3DWSJCAIRuyQY9sgD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olish title glow 1"/>
          <p:cNvSpPr/>
          <p:nvPr/>
        </p:nvSpPr>
        <p:spPr>
          <a:xfrm>
            <a:off x="7820000" y="-700000"/>
            <a:ext cx="5200000" cy="2100000"/>
          </a:xfrm>
          <a:prstGeom prst="roundRect">
            <a:avLst/>
          </a:prstGeom>
          <a:solidFill>
            <a:srgbClr val="2563EB">
              <a:alpha val="2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92" name="Polish title glow 2"/>
          <p:cNvSpPr/>
          <p:nvPr/>
        </p:nvSpPr>
        <p:spPr>
          <a:xfrm>
            <a:off x="8540000" y="4420000"/>
            <a:ext cx="3100000" cy="1250000"/>
          </a:xfrm>
          <a:prstGeom prst="roundRect">
            <a:avLst/>
          </a:prstGeom>
          <a:solidFill>
            <a:srgbClr val="14B8A6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93" name="Polish title accent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" name="Polish title rail"/>
          <p:cNvSpPr/>
          <p:nvPr/>
        </p:nvSpPr>
        <p:spPr>
          <a:xfrm>
            <a:off x="160000" y="0"/>
            <a:ext cx="72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" name="Polish title card"/>
          <p:cNvSpPr/>
          <p:nvPr/>
        </p:nvSpPr>
        <p:spPr>
          <a:xfrm>
            <a:off x="610000" y="1180000"/>
            <a:ext cx="5900000" cy="4650000"/>
          </a:xfrm>
          <a:prstGeom prst="roundRect">
            <a:avLst/>
          </a:prstGeom>
          <a:solidFill>
            <a:srgbClr val="132238">
              <a:alpha val="85000"/>
            </a:srgbClr>
          </a:solidFill>
          <a:ln w="12700">
            <a:solidFill>
              <a:srgbClr val="27496D">
                <a:alpha val="70000"/>
              </a:srgbClr>
            </a:solidFill>
          </a:ln>
        </p:spPr>
        <p:txBody>
          <a:bodyPr/>
          <a:lstStyle/>
          <a:p/>
        </p:txBody>
      </p:sp>
      <p:sp>
        <p:nvSpPr>
          <p:cNvPr id="1096" name="Polish node 1"/>
          <p:cNvSpPr/>
          <p:nvPr/>
        </p:nvSpPr>
        <p:spPr>
          <a:xfrm>
            <a:off x="7900000" y="1510000"/>
            <a:ext cx="460000" cy="460000"/>
          </a:xfrm>
          <a:prstGeom prst="ellipse">
            <a:avLst/>
          </a:prstGeom>
          <a:solidFill>
            <a:srgbClr val="67E8F9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97" name="Polish node 2"/>
          <p:cNvSpPr/>
          <p:nvPr/>
        </p:nvSpPr>
        <p:spPr>
          <a:xfrm>
            <a:off x="9340000" y="2340000"/>
            <a:ext cx="320000" cy="320000"/>
          </a:xfrm>
          <a:prstGeom prst="ellipse">
            <a:avLst/>
          </a:prstGeom>
          <a:solidFill>
            <a:srgbClr val="14B8A6">
              <a:alpha val="9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98" name="Polish node 3"/>
          <p:cNvSpPr/>
          <p:nvPr/>
        </p:nvSpPr>
        <p:spPr>
          <a:xfrm>
            <a:off x="10350000" y="3910000"/>
            <a:ext cx="520000" cy="520000"/>
          </a:xfrm>
          <a:prstGeom prst="ellipse">
            <a:avLst/>
          </a:prstGeom>
          <a:solidFill>
            <a:srgbClr val="F97316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descr="wide_modern_conceptual_illustration_background_s_batch_3.png" id="84" name="Google Shape;84;p1"/>
          <p:cNvPicPr preferRelativeResize="0"/>
          <p:nvPr/>
        </p:nvPicPr>
        <p:blipFill rotWithShape="1">
          <a:blip ns2:embed="rId3">
            <a:alphaModFix/>
          </a:blip>
          <a:srcRect b="0" l="0" r="0" t="0"/>
          <a:stretch/>
        </p:blipFill>
        <p:spPr>
          <a:xfrm>
            <a:off x="6080760" y="0"/>
            <a:ext cx="61081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1371600"/>
            <a:ext cx="5394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ym typeface="Calibri"/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Math Reasoning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ym typeface="Calibri"/>
                <a:solidFill>
                  <a:srgbClr val="1D4ED8"/>
                </a:solidFill>
                <a:latin typeface="Aptos"/>
                <a:ea typeface="Aptos"/>
                <a:cs typeface="Aptos"/>
              </a:rPr>
              <a:t>A collaborative project on improving LLM reasoning with MCTS and process-level scoring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Ruochen Wu (rw3152) · Hammer Niu (hn2477) · Shengbo Yi (sy3302)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3794760"/>
            <a:ext cx="4572000" cy="1225296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96112" y="3904488"/>
            <a:ext cx="424281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ym typeface="Calibri"/>
                <a:solidFill>
                  <a:srgbClr val="0891B2"/>
                </a:solidFill>
                <a:latin typeface="Aptos Display"/>
                <a:ea typeface="Aptos Display"/>
                <a:cs typeface="Aptos Display"/>
              </a:rPr>
              <a:t>Project focus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Move beyond direct generation to deliberate multi-step reasoning.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 over reasoning paths and score them before returning an answer.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731520" y="6263640"/>
            <a:ext cx="1828800" cy="64008"/>
          </a:xfrm>
          <a:prstGeom prst="rect">
            <a:avLst/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94A3B8"/>
                </a:solidFill>
                <a:latin typeface="Aptos"/>
                <a:ea typeface="Aptos"/>
                <a:cs typeface="Aptos"/>
              </a:rPr>
              <a:t>1</a:t>
            </a:r>
            <a:endParaRPr/>
          </a:p>
        </p:txBody>
      </p:sp>
      <p:sp>
        <p:nvSpPr>
          <p:cNvPr id="1099" name="Polish title underline"/>
          <p:cNvSpPr/>
          <p:nvPr/>
        </p:nvSpPr>
        <p:spPr>
          <a:xfrm>
            <a:off x="690000" y="3340000"/>
            <a:ext cx="2250000" cy="5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8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9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110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111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Google Shape;95;p2"/>
          <p:cNvSpPr txBox="1"/>
          <p:nvPr/>
        </p:nvSpPr>
        <p:spPr>
          <a:xfrm>
            <a:off x="502920" y="32004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1. Motivation &amp; Project Objective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Why a search-based reasoning framework?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594360" y="1234440"/>
            <a:ext cx="3886200" cy="1874519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58952" y="1344168"/>
            <a:ext cx="3557016" cy="1673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Why standard LLM reasoning is limited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Direct next-token generation often commits too early to one line of thought.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For multi-step math problems, small intermediate errors can quickly compound.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A fluent final answer may still come from a weak or inconsistent reasoning path.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94360" y="3337560"/>
            <a:ext cx="3886200" cy="192024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758952" y="3447288"/>
            <a:ext cx="3557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Project objective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58952" y="3758184"/>
            <a:ext cx="3557016" cy="1353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Build a concrete math reasoning system that explores multiple candidate trajectories, evaluates them, and returns the strongest final solution.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Use math as the primary testbed, with longer-term potential to generalize to code generation and strategic planning.</a:t>
            </a:r>
            <a:endParaRPr/>
          </a:p>
        </p:txBody>
      </p:sp>
      <p:pic>
        <p:nvPicPr>
          <p:cNvPr descr="a_clean_high_detail_conceptual_tech_ai_illustrati_batch_1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051560"/>
            <a:ext cx="676656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5257800" y="4983480"/>
            <a:ext cx="5989320" cy="868680"/>
          </a:xfrm>
          <a:prstGeom prst="roundRect">
            <a:avLst>
              <a:gd fmla="val 16667" name="adj"/>
            </a:avLst>
          </a:prstGeom>
          <a:solidFill>
            <a:srgbClr val="122A5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458968" y="5129784"/>
            <a:ext cx="5586983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Key idea: combine Monte Carlo Tree Search (MCTS) with a Process-level Preference Model (PPM).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  <a:endParaRPr/>
          </a:p>
        </p:txBody>
      </p:sp>
      <p:sp>
        <p:nvSpPr>
          <p:cNvPr id="1112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3" name="Polish progress fill"/>
          <p:cNvSpPr/>
          <p:nvPr/>
        </p:nvSpPr>
        <p:spPr>
          <a:xfrm>
            <a:off x="500000" y="6570000"/>
            <a:ext cx="2797918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4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151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152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Google Shape;109;p3"/>
          <p:cNvSpPr txBox="1"/>
          <p:nvPr/>
        </p:nvSpPr>
        <p:spPr>
          <a:xfrm>
            <a:off x="502920" y="320040"/>
            <a:ext cx="10972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2. Solution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From problem input to final answer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152144" y="987551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152144" y="996695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566928" y="1261872"/>
            <a:ext cx="1691640" cy="1115568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31520" y="1371600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Problem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731520" y="1682495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Input a math problem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331720" y="16459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227832" y="987551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3227832" y="996695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642616" y="1261872"/>
            <a:ext cx="1691640" cy="1115568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807208" y="1371600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MCTS Search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2807208" y="1682495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Explore multiple next-step candidates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407408" y="16459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303520" y="987551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303520" y="996695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718304" y="1261872"/>
            <a:ext cx="1691640" cy="1115568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882896" y="1371600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PPM Scoring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4882896" y="1682495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Score each step / trajectory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483096" y="16459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379208" y="987551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379208" y="996695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793992" y="1261872"/>
            <a:ext cx="1691640" cy="1115568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6958584" y="1371600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Best Trajectory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6958584" y="1682495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Choose the strongest reasoning chain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8558784" y="16459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9454896" y="987551"/>
            <a:ext cx="384048" cy="384048"/>
          </a:xfrm>
          <a:prstGeom prst="ellipse">
            <a:avLst/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454896" y="996695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8869680" y="1261872"/>
            <a:ext cx="1691640" cy="1115568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034272" y="1371600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Final Answer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9034272" y="1682495"/>
            <a:ext cx="1362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Return a more reliable solution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85800" y="2788920"/>
            <a:ext cx="3401568" cy="205740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50392" y="2898648"/>
            <a:ext cx="3072384" cy="185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MCTS in this project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Select: choose the most promising node.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Expand: generate candidate next reasoning steps.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Simulate: evaluate the resulting path.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Backpropagate: update the tree with the path score.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4389120" y="2788920"/>
            <a:ext cx="3401568" cy="205740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4553712" y="2898648"/>
            <a:ext cx="3072384" cy="185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PPM in this project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PPM is trained on self-generated trajectories.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Trajectory pairs train PPM; verifier works without a checkpoint.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It scores process quality rather than only the final answer.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8092440" y="2788920"/>
            <a:ext cx="3401568" cy="205740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8257031" y="2898648"/>
            <a:ext cx="3072384" cy="185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Implementation note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Models: OpenAI, DeepSeek, Anthropic, Ollama.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method is exposed through a lightweight interactive demo.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 and scoring are integrated into one reasoning pipeline.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  <a:endParaRPr/>
          </a:p>
        </p:txBody>
      </p:sp>
      <p:sp>
        <p:nvSpPr>
          <p:cNvPr id="1153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" name="Polish progress fill"/>
          <p:cNvSpPr/>
          <p:nvPr/>
        </p:nvSpPr>
        <p:spPr>
          <a:xfrm>
            <a:off x="500000" y="6570000"/>
            <a:ext cx="4196878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206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207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Google Shape;150;p4"/>
          <p:cNvSpPr txBox="1"/>
          <p:nvPr/>
        </p:nvSpPr>
        <p:spPr>
          <a:xfrm>
            <a:off x="502920" y="320040"/>
            <a:ext cx="10972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3. System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48640" y="1143000"/>
            <a:ext cx="137160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713232" y="1252728"/>
            <a:ext cx="1042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1. Problem</a:t>
            </a:r>
            <a:br>
              <a:rPr b="1" i="0" lang="en-US" sz="1019" u="none" cap="none" strike="noStrike">
                <a:solidFill>
                  <a:srgbClr val="122A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Input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713232" y="1563624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Math question enters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system.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1993392" y="1490472"/>
            <a:ext cx="164592" cy="237744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194560" y="1143000"/>
            <a:ext cx="164592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2359152" y="1252728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2. Candidate Step</a:t>
            </a:r>
            <a:br>
              <a:rPr b="1" i="0" lang="en-US" sz="1019" u="none" cap="none" strike="noStrike">
                <a:solidFill>
                  <a:srgbClr val="122A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Generator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2359152" y="1563624"/>
            <a:ext cx="13167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LLM proposes next-step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reasoning candidates.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3913632" y="1490472"/>
            <a:ext cx="164592" cy="237744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160520" y="1143000"/>
            <a:ext cx="164592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325112" y="1252728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3. MCTS Controller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4325112" y="1563624"/>
            <a:ext cx="13167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Organizes tree search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over candidate steps.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879592" y="1490472"/>
            <a:ext cx="164592" cy="237744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172200" y="1143000"/>
            <a:ext cx="169164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336792" y="1252728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4. Process-level</a:t>
            </a:r>
            <a:br>
              <a:rPr b="1" i="0" lang="en-US" sz="1019" u="none" cap="none" strike="noStrike">
                <a:solidFill>
                  <a:srgbClr val="122A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Scorer (PPM)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336792" y="156362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Scores each partial path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or full trajectory.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7936992" y="1490472"/>
            <a:ext cx="164592" cy="237744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8229600" y="1143000"/>
            <a:ext cx="155448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394192" y="1252728"/>
            <a:ext cx="12252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5. Trajectory</a:t>
            </a:r>
            <a:br>
              <a:rPr b="1" i="0" lang="en-US" sz="1019" u="none" cap="none" strike="noStrike">
                <a:solidFill>
                  <a:srgbClr val="122A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Selector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8394192" y="1563624"/>
            <a:ext cx="122529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Keeps the highest-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quality reasoning chain.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9857232" y="1490472"/>
            <a:ext cx="164592" cy="237744"/>
          </a:xfrm>
          <a:prstGeom prst="chevron">
            <a:avLst>
              <a:gd fmla="val 50000" name="adj"/>
            </a:avLst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0058400" y="1143000"/>
            <a:ext cx="1280160" cy="9509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10222992" y="1252728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6. Final</a:t>
            </a:r>
            <a:br>
              <a:rPr b="1" i="0" lang="en-US" sz="1019" u="none" cap="none" strike="noStrike">
                <a:solidFill>
                  <a:srgbClr val="122A5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Answer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10222992" y="1563624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Outputs the selected</a:t>
            </a:r>
            <a:br>
              <a:rPr b="0" i="0" lang="en-US" sz="88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solution.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161312" y="2478020"/>
            <a:ext cx="4160400" cy="210300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1517904" y="2441448"/>
            <a:ext cx="383133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Inside the MCTS Controller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627632" y="2852928"/>
            <a:ext cx="1298448" cy="786384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1792224" y="2962656"/>
            <a:ext cx="9692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Select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792224" y="3273552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Pick the most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promising node.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337560" y="2852928"/>
            <a:ext cx="1298448" cy="786384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3502152" y="2962656"/>
            <a:ext cx="9692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Expand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3502152" y="3273552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Generate candidate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next steps.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627632" y="3730752"/>
            <a:ext cx="1298448" cy="786384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792224" y="3840480"/>
            <a:ext cx="9692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Simulate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792224" y="4151376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Evaluate the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resulting path.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3337560" y="3730752"/>
            <a:ext cx="1298448" cy="786384"/>
          </a:xfrm>
          <a:prstGeom prst="roundRect">
            <a:avLst>
              <a:gd fmla="val 16667" name="adj"/>
            </a:avLst>
          </a:prstGeom>
          <a:solidFill>
            <a:srgbClr val="EAF0F9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3502152" y="3840480"/>
            <a:ext cx="9692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Backpropagate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3502152" y="4151376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Update node values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in the tree.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035808" y="3200400"/>
            <a:ext cx="146304" cy="146304"/>
          </a:xfrm>
          <a:prstGeom prst="chevron">
            <a:avLst>
              <a:gd fmla="val 50000" name="adj"/>
            </a:avLst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736592" y="3200400"/>
            <a:ext cx="146304" cy="146304"/>
          </a:xfrm>
          <a:prstGeom prst="chevron">
            <a:avLst>
              <a:gd fmla="val 50000" name="adj"/>
            </a:avLst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035808" y="4069080"/>
            <a:ext cx="146304" cy="146304"/>
          </a:xfrm>
          <a:prstGeom prst="chevron">
            <a:avLst>
              <a:gd fmla="val 50000" name="adj"/>
            </a:avLst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650992" y="3319272"/>
            <a:ext cx="310896" cy="201168"/>
          </a:xfrm>
          <a:prstGeom prst="chevron">
            <a:avLst>
              <a:gd fmla="val 50000" name="adj"/>
            </a:avLst>
          </a:prstGeom>
          <a:solidFill>
            <a:srgbClr val="63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126480" y="2697480"/>
            <a:ext cx="1874519" cy="987552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6291072" y="2807208"/>
            <a:ext cx="1545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Scoring signal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6291072" y="3118104"/>
            <a:ext cx="15453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PPM sends quality scores back to guide which branches should continue expanding.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8211312" y="2697480"/>
            <a:ext cx="2743200" cy="987552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375904" y="2807208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Preference data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8375904" y="3118104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Correct vs. incorrect trajectories are used as preference pairs to train the PPM.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126480" y="3886200"/>
            <a:ext cx="4828032" cy="146304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6291072" y="3995928"/>
            <a:ext cx="449884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Why this architecture is more concrete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Generation, search, scoring, and final answer selection are separated into distinct modules.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feedback loop from the PPM to MCTS makes the reasoning process explicit and inspectable.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  <a:endParaRPr/>
          </a:p>
        </p:txBody>
      </p:sp>
      <p:sp>
        <p:nvSpPr>
          <p:cNvPr id="1208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" name="Polish progress fill"/>
          <p:cNvSpPr/>
          <p:nvPr/>
        </p:nvSpPr>
        <p:spPr>
          <a:xfrm>
            <a:off x="500000" y="6570000"/>
            <a:ext cx="5595837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237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238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Google Shape;205;p5"/>
          <p:cNvSpPr txBox="1"/>
          <p:nvPr/>
        </p:nvSpPr>
        <p:spPr>
          <a:xfrm>
            <a:off x="502920" y="320040"/>
            <a:ext cx="10972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4. Experimental Setup &amp; Main Results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502920" y="1143000"/>
            <a:ext cx="3977639" cy="192024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667512" y="1252728"/>
            <a:ext cx="3648456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Evaluation setup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Benchmarks: deterministic ablations; MATH/Olympiad scripts ready.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Baseline: simple MCTS / direct strategy depending on script.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Our method: adaptive MCTS + verifier or hybrid process scorer.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7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Goal: test whether search and process scoring improve path choice and efficiency.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868680" y="3657600"/>
            <a:ext cx="1234440" cy="384048"/>
          </a:xfrm>
          <a:prstGeom prst="rect">
            <a:avLst/>
          </a:prstGeom>
          <a:solidFill>
            <a:srgbClr val="122A54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868680" y="37307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Task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2103120" y="3657600"/>
            <a:ext cx="1234440" cy="384048"/>
          </a:xfrm>
          <a:prstGeom prst="rect">
            <a:avLst/>
          </a:prstGeom>
          <a:solidFill>
            <a:srgbClr val="122A54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2103120" y="37307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Our method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337560" y="3657600"/>
            <a:ext cx="1234440" cy="384048"/>
          </a:xfrm>
          <a:prstGeom prst="rect">
            <a:avLst/>
          </a:prstGeom>
          <a:solidFill>
            <a:srgbClr val="122A54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337560" y="37307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Baseline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68680" y="4041648"/>
            <a:ext cx="1234440" cy="438912"/>
          </a:xfrm>
          <a:prstGeom prst="rect">
            <a:avLst/>
          </a:prstGeom>
          <a:solidFill>
            <a:srgbClr val="EAF0F9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886968" y="4096511"/>
            <a:ext cx="1197864" cy="36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Search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2103120" y="4041648"/>
            <a:ext cx="1234440" cy="438912"/>
          </a:xfrm>
          <a:prstGeom prst="rect">
            <a:avLst/>
          </a:prstGeom>
          <a:solidFill>
            <a:srgbClr val="EAF0F9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2121408" y="4096511"/>
            <a:ext cx="1197864" cy="36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3/3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337560" y="4041648"/>
            <a:ext cx="1234440" cy="438912"/>
          </a:xfrm>
          <a:prstGeom prst="rect">
            <a:avLst/>
          </a:prstGeom>
          <a:solidFill>
            <a:srgbClr val="EAF0F9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3355848" y="4096511"/>
            <a:ext cx="1197864" cy="36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0/3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868680" y="4480560"/>
            <a:ext cx="123444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886968" y="4535424"/>
            <a:ext cx="11978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Scoring</a:t>
            </a:r>
            <a:br>
              <a:rPr b="0" i="0" lang="en-US" sz="1160" u="none" cap="none" strike="noStrike">
                <a:solidFill>
                  <a:srgbClr val="222B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ablation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2103120" y="4480560"/>
            <a:ext cx="123444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2121408" y="4535424"/>
            <a:ext cx="11978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3/3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3337560" y="4480560"/>
            <a:ext cx="123444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3355848" y="4535424"/>
            <a:ext cx="11978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0/3</a:t>
            </a:r>
            <a:endParaRPr/>
          </a:p>
        </p:txBody>
      </p:sp>
      <p:pic>
        <p:nvPicPr>
          <p:cNvPr descr="8ded2189-9a44-561a-96cb-1bb99a37a478.png" id="226" name="Google Shape;2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234440"/>
            <a:ext cx="6126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4983480" y="1234440"/>
            <a:ext cx="6126480" cy="2331720"/>
          </a:xfrm>
          <a:prstGeom prst="rect">
            <a:avLst/>
          </a:prstGeom>
          <a:noFill/>
          <a:ln cap="flat" cmpd="sng" w="9525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5096475" y="951272"/>
            <a:ext cx="1449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Demo output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983480" y="3977639"/>
            <a:ext cx="6126480" cy="141732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5148072" y="4087368"/>
            <a:ext cx="5797296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Key findings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Adaptive search and hybrid scoring outperform their controlled baselines in no-key ablations.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full MATH/OlympiadBench scripts are included for API-backed benchmark validation.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  <a:endParaRPr/>
          </a:p>
        </p:txBody>
      </p:sp>
      <p:sp>
        <p:nvSpPr>
          <p:cNvPr id="1239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" name="Polish progress fill"/>
          <p:cNvSpPr/>
          <p:nvPr/>
        </p:nvSpPr>
        <p:spPr>
          <a:xfrm>
            <a:off x="500000" y="6570000"/>
            <a:ext cx="6994796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260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261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Google Shape;236;p6"/>
          <p:cNvSpPr txBox="1"/>
          <p:nvPr/>
        </p:nvSpPr>
        <p:spPr>
          <a:xfrm>
            <a:off x="502920" y="320040"/>
            <a:ext cx="10972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5. Project Contributions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777240" y="1499616"/>
            <a:ext cx="384048" cy="384048"/>
          </a:xfrm>
          <a:prstGeom prst="ellipse">
            <a:avLst/>
          </a:prstGeom>
          <a:solidFill>
            <a:srgbClr val="122A5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777240" y="1508760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1234440" y="1371600"/>
            <a:ext cx="10195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1399032" y="1481328"/>
            <a:ext cx="9866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Baseline reproduction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1399032" y="1792224"/>
            <a:ext cx="98663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We reproduce a working MCTS + PPM framework for math reasoning and verify that the pipeline solves multi-step problems more deliberately than direct prompting.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77240" y="2871216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777240" y="2880360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1234440" y="2743200"/>
            <a:ext cx="10195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1399032" y="2852928"/>
            <a:ext cx="9866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System integration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1399032" y="3163824"/>
            <a:ext cx="98663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We package the method as one end-to-end project: problem input, search, preference-based path evaluation, final answer generation, and a demo interface.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777240" y="4242816"/>
            <a:ext cx="384048" cy="384048"/>
          </a:xfrm>
          <a:prstGeom prst="ellipse">
            <a:avLst/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777240" y="4251959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1234440" y="4114800"/>
            <a:ext cx="10195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399032" y="4224528"/>
            <a:ext cx="9866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Empirical validation path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1399032" y="4535424"/>
            <a:ext cx="98663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We provide deterministic ablations, a side-by-side demo, and scripts for API-backed MATH/OlympiadBench evaluation.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868680" y="5650992"/>
            <a:ext cx="10927080" cy="621792"/>
          </a:xfrm>
          <a:prstGeom prst="roundRect">
            <a:avLst>
              <a:gd fmla="val 16667" name="adj"/>
            </a:avLst>
          </a:prstGeom>
          <a:solidFill>
            <a:srgbClr val="122A5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1051560" y="5797296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Takeaway: this deck presents one unified collaborative project with a single goal — build and validate a more deliberate math reasoning system.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  <a:endParaRPr/>
          </a:p>
        </p:txBody>
      </p:sp>
      <p:sp>
        <p:nvSpPr>
          <p:cNvPr id="1262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" name="Polish progress fill"/>
          <p:cNvSpPr/>
          <p:nvPr/>
        </p:nvSpPr>
        <p:spPr>
          <a:xfrm>
            <a:off x="500000" y="6570000"/>
            <a:ext cx="8393756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286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287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Google Shape;259;p7"/>
          <p:cNvSpPr txBox="1"/>
          <p:nvPr/>
        </p:nvSpPr>
        <p:spPr>
          <a:xfrm>
            <a:off x="502920" y="320040"/>
            <a:ext cx="10972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6. Limitations &amp; Next Steps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86384" y="1362456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786384" y="1371600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40080" y="1234440"/>
            <a:ext cx="5349240" cy="1664208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804671" y="1344168"/>
            <a:ext cx="5020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Full benchmark run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804671" y="1655064"/>
            <a:ext cx="50200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Run the included MATH/OlympiadBench scripts with final API keys and save result JSON files.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6318504" y="1362456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6318504" y="1371600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172200" y="1234440"/>
            <a:ext cx="5349240" cy="1664208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6336792" y="1344168"/>
            <a:ext cx="5020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Checkpoint publication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6336792" y="1655064"/>
            <a:ext cx="50200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Train a PPM checkpoint from collected trajectories and include or document its regeneration path.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786384" y="3785615"/>
            <a:ext cx="384048" cy="384048"/>
          </a:xfrm>
          <a:prstGeom prst="ellipse">
            <a:avLst/>
          </a:prstGeom>
          <a:solidFill>
            <a:srgbClr val="547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786384" y="3794759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40080" y="3657600"/>
            <a:ext cx="5349240" cy="1664208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804671" y="3767328"/>
            <a:ext cx="5020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Demo recording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804671" y="4078224"/>
            <a:ext cx="50200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Record a narrated video from the Streamlit comparison UI for final CourseWorks submission.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318504" y="3785615"/>
            <a:ext cx="384048" cy="384048"/>
          </a:xfrm>
          <a:prstGeom prst="ellipse">
            <a:avLst/>
          </a:prstGeom>
          <a:solidFill>
            <a:srgbClr val="32BA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6318504" y="3794759"/>
            <a:ext cx="384048" cy="310896"/>
          </a:xfrm>
          <a:prstGeom prst="rect">
            <a:avLst/>
          </a:prstGeom>
          <a:noFill/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ym typeface="Calibri"/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6172200" y="3657600"/>
            <a:ext cx="5349240" cy="1664208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6336792" y="3767328"/>
            <a:ext cx="5020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Broader evaluation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6336792" y="4078224"/>
            <a:ext cx="50200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Add more benchmarks and deeper failure analysis to understand when search helps most.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  <a:endParaRPr/>
          </a:p>
        </p:txBody>
      </p:sp>
      <p:sp>
        <p:nvSpPr>
          <p:cNvPr id="1288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" name="Polish progress fill"/>
          <p:cNvSpPr/>
          <p:nvPr/>
        </p:nvSpPr>
        <p:spPr>
          <a:xfrm>
            <a:off x="500000" y="6570000"/>
            <a:ext cx="9792715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olish canvas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" name="Polish top bar"/>
          <p:cNvSpPr/>
          <p:nvPr/>
        </p:nvSpPr>
        <p:spPr>
          <a:xfrm>
            <a:off x="0" y="0"/>
            <a:ext cx="12191675" cy="11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" name="Polish accent bar"/>
          <p:cNvSpPr/>
          <p:nvPr/>
        </p:nvSpPr>
        <p:spPr>
          <a:xfrm>
            <a:off x="0" y="0"/>
            <a:ext cx="1800000" cy="11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3" name="Polish side rail"/>
          <p:cNvSpPr/>
          <p:nvPr/>
        </p:nvSpPr>
        <p:spPr>
          <a:xfrm>
            <a:off x="0" y="118000"/>
            <a:ext cx="150000" cy="674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4" name="Polish title wash"/>
          <p:cNvSpPr/>
          <p:nvPr/>
        </p:nvSpPr>
        <p:spPr>
          <a:xfrm>
            <a:off x="430000" y="225000"/>
            <a:ext cx="11200000" cy="6500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9E2EF">
                <a:alpha val="80000"/>
              </a:srgbClr>
            </a:solidFill>
          </a:ln>
        </p:spPr>
        <p:txBody>
          <a:bodyPr/>
          <a:lstStyle/>
          <a:p/>
        </p:txBody>
      </p:sp>
      <p:sp>
        <p:nvSpPr>
          <p:cNvPr id="1295" name="Polish lower wash"/>
          <p:cNvSpPr/>
          <p:nvPr/>
        </p:nvSpPr>
        <p:spPr>
          <a:xfrm>
            <a:off x="420000" y="1090000"/>
            <a:ext cx="11280000" cy="516000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9E2EF">
                <a:alpha val="65000"/>
              </a:srgbClr>
            </a:solidFill>
          </a:ln>
        </p:spPr>
        <p:txBody>
          <a:bodyPr/>
          <a:lstStyle/>
          <a:p/>
        </p:txBody>
      </p:sp>
      <p:sp>
        <p:nvSpPr>
          <p:cNvPr id="1296" name="Polish soft accent"/>
          <p:cNvSpPr/>
          <p:nvPr/>
        </p:nvSpPr>
        <p:spPr>
          <a:xfrm>
            <a:off x="9460000" y="575000"/>
            <a:ext cx="1720000" cy="182000"/>
          </a:xfrm>
          <a:prstGeom prst="rect">
            <a:avLst/>
          </a:prstGeom>
          <a:solidFill>
            <a:srgbClr val="E6F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Google Shape;285;p8"/>
          <p:cNvSpPr txBox="1"/>
          <p:nvPr/>
        </p:nvSpPr>
        <p:spPr>
          <a:xfrm>
            <a:off x="502920" y="320040"/>
            <a:ext cx="10972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7. Conclusion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685800" y="1371600"/>
            <a:ext cx="5577840" cy="3840480"/>
          </a:xfrm>
          <a:prstGeom prst="roundRect">
            <a:avLst>
              <a:gd fmla="val 16667" name="adj"/>
            </a:avLst>
          </a:prstGeom>
          <a:solidFill>
            <a:srgbClr val="FBFCFE"/>
          </a:solidFill>
          <a:ln cap="flat" cmpd="sng" w="12700">
            <a:solidFill>
              <a:srgbClr val="D6DF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822953" y="2027744"/>
            <a:ext cx="55779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ym typeface="Calibri"/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Main takeaways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We build a complete math reasoning prototype around MCTS and a Process-level Preference Model.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system explores multiple candidate reasoning paths instead of relying on one direct generation.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Controlled ablations show the implemented search and scoring changes improve path choice.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ym typeface="Calibri"/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project establishes a foundation for more efficient search, stronger supervision, and broader reasoning applications.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6903720" y="1764792"/>
            <a:ext cx="4096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11384280" y="64008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ym typeface="Calibri"/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  <a:endParaRPr/>
          </a:p>
        </p:txBody>
      </p:sp>
      <p:sp>
        <p:nvSpPr>
          <p:cNvPr id="1297" name="Polish progress track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8" name="Polish progress fill"/>
          <p:cNvSpPr/>
          <p:nvPr/>
        </p:nvSpPr>
        <p:spPr>
          <a:xfrm>
            <a:off x="500000" y="6570000"/>
            <a:ext cx="11191675" cy="32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9" name="Polish title underline"/>
          <p:cNvSpPr/>
          <p:nvPr/>
        </p:nvSpPr>
        <p:spPr>
          <a:xfrm>
            <a:off x="505000" y="888000"/>
            <a:ext cx="1650000" cy="4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Default">
      <a:dk1>
        <a:srgbClr val="0B1220"/>
      </a:dk1>
      <a:lt1>
        <a:srgbClr val="FFFFFF"/>
      </a:lt1>
      <a:dk2>
        <a:srgbClr val="102033"/>
      </a:dk2>
      <a:lt2>
        <a:srgbClr val="F7F9FC"/>
      </a:lt2>
      <a:accent1>
        <a:srgbClr val="2563EB"/>
      </a:accent1>
      <a:accent2>
        <a:srgbClr val="14B8A6"/>
      </a:accent2>
      <a:accent3>
        <a:srgbClr val="F97316"/>
      </a:accent3>
      <a:accent4>
        <a:srgbClr val="7C3AED"/>
      </a:accent4>
      <a:accent5>
        <a:srgbClr val="0EA5E9"/>
      </a:accent5>
      <a:accent6>
        <a:srgbClr val="22C55E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B1220"/>
      </a:dk1>
      <a:lt1>
        <a:srgbClr val="FFFFFF"/>
      </a:lt1>
      <a:dk2>
        <a:srgbClr val="102033"/>
      </a:dk2>
      <a:lt2>
        <a:srgbClr val="F7F9FC"/>
      </a:lt2>
      <a:accent1>
        <a:srgbClr val="2563EB"/>
      </a:accent1>
      <a:accent2>
        <a:srgbClr val="14B8A6"/>
      </a:accent2>
      <a:accent3>
        <a:srgbClr val="F97316"/>
      </a:accent3>
      <a:accent4>
        <a:srgbClr val="7C3AED"/>
      </a:accent4>
      <a:accent5>
        <a:srgbClr val="0EA5E9"/>
      </a:accent5>
      <a:accent6>
        <a:srgbClr val="22C55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